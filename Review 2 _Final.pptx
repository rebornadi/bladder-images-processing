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5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4" r:id="rId9"/>
    <p:sldId id="265" r:id="rId10"/>
    <p:sldId id="266" r:id="rId11"/>
    <p:sldId id="267" r:id="rId12"/>
    <p:sldId id="268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8E2E1-8886-43B2-B986-F2B06DAA2FAC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59FDF3-42B5-4A41-B75E-186C389084C2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8AE-7F97-4550-9DD8-BF69171FDC30}" type="datetime1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2BD8-A2C4-424B-809A-C64DDCC305D9}" type="datetime1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0F4BC-B3A4-46AF-9AEC-8478EF1369D5}" type="datetime1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993-B405-4F4D-B968-A01C27211659}" type="datetime1">
              <a:rPr lang="en-IN" smtClean="0"/>
              <a:t>09-09-2026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8C8C-5FBB-4DD7-A06D-BE263480794B}" type="datetime1">
              <a:rPr lang="en-IN" smtClean="0"/>
              <a:t>09-09-2026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2985-06EC-459B-80C8-F6F4362A1C03}" type="datetime1">
              <a:rPr lang="en-IN" smtClean="0"/>
              <a:t>09-09-2026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E9DA-13C6-48A4-9305-B592482DE8CE}" type="datetime1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E7C4B-C575-4DCF-9B63-045662930500}" type="datetime1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6931C-EA1A-43DD-B3B3-66F5BA587712}" type="datetime1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9B0E1-7C95-4C20-B9C6-BA51F388E878}" type="datetime1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27C3E-786B-4150-9177-1C28966A2ADC}" type="datetime1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SCOPE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236" y="-11493"/>
            <a:ext cx="4517528" cy="1871634"/>
          </a:xfrm>
          <a:prstGeom prst="rect">
            <a:avLst/>
          </a:prstGeom>
        </p:spPr>
      </p:pic>
      <p:sp>
        <p:nvSpPr>
          <p:cNvPr id="7" name="Title 6"/>
          <p:cNvSpPr txBox="1">
            <a:spLocks noGrp="1"/>
          </p:cNvSpPr>
          <p:nvPr>
            <p:ph type="ctrTitle"/>
          </p:nvPr>
        </p:nvSpPr>
        <p:spPr>
          <a:xfrm>
            <a:off x="1907459" y="1657142"/>
            <a:ext cx="8924544" cy="136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err="1">
                <a:latin typeface="Times New Roman" panose="02020603050405020304"/>
                <a:cs typeface="Times New Roman" panose="02020603050405020304"/>
              </a:rPr>
              <a:t>B.Tech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/>
              <a:t>BCSE497J - Project-I</a:t>
            </a:r>
            <a:br>
              <a:rPr lang="en-IN" sz="1600" b="1" dirty="0"/>
            </a:br>
            <a:b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/>
              <a:t>Deep Learning-Based Urinary Bladder Volume Quantification from Transabdominal Ultrasound with Intelligent Segmentation and Self-Calibration</a:t>
            </a:r>
            <a:endParaRPr sz="2000" dirty="0"/>
          </a:p>
        </p:txBody>
      </p:sp>
      <p:sp>
        <p:nvSpPr>
          <p:cNvPr id="9" name="object 3"/>
          <p:cNvSpPr txBox="1"/>
          <p:nvPr/>
        </p:nvSpPr>
        <p:spPr>
          <a:xfrm>
            <a:off x="2609088" y="3208471"/>
            <a:ext cx="7071360" cy="24608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r>
              <a:t>Team members:</a:t>
            </a:r>
            <a:endParaRPr sz="1800" dirty="0">
              <a:latin typeface="Times New Roman" panose="02020603050405020304"/>
              <a:cs typeface="Times New Roman" panose="02020603050405020304"/>
            </a:endParaRPr>
          </a:p>
          <a:p>
            <a:r>
              <a:t>Nidhi Anand Karva  (23BDS0031)</a:t>
            </a:r>
          </a:p>
          <a:p>
            <a:r>
              <a:t>Aditya Atul Deshmukh  (23BAI0072)</a:t>
            </a:r>
          </a:p>
          <a:p>
            <a:endParaRPr/>
          </a:p>
          <a:p>
            <a:r>
              <a:t>Faculty guide : Dr. Devipriya 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 Mail From Guide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09-09-2026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2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A24DCC2-5BCF-793B-1FB2-7CC60B557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865" y="1554317"/>
            <a:ext cx="10722269" cy="37493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automate urinary bladder volume estimation from ultrasound images, removing the need for manual caliper placement</a:t>
            </a:r>
          </a:p>
          <a:p>
            <a:r>
              <a:rPr sz="2400"/>
              <a:t>To segment the bladder and extract the three diameters required for volumetric calculation, with automatic pixel-to-millimetre calibration</a:t>
            </a:r>
          </a:p>
          <a:p>
            <a:r>
              <a:rPr sz="2400"/>
              <a:t>To compute bladder volume using the validated ellipsoid formula (Volume = 0.52 × d1 × d2 × d3)</a:t>
            </a:r>
          </a:p>
          <a:p>
            <a:r>
              <a:rPr sz="2400"/>
              <a:t>To ensure clinical reliability through visual verification at each stage and robustness to real-world image variations</a:t>
            </a:r>
          </a:p>
        </p:txBody>
      </p:sp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10">
              <a:lnSpc>
                <a:spcPct val="100000"/>
              </a:lnSpc>
              <a:spcBef>
                <a:spcPts val="130"/>
              </a:spcBef>
            </a:pPr>
            <a:r>
              <a:rPr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6562-4E3F-4038-A291-A7AE35CC3E6A}" type="datetime1">
              <a:rPr lang="en-IN" smtClean="0"/>
              <a:t>09-09-2026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3</a:t>
            </a:fld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Bladder volume from ultrasound is usually measured by hand across six points — slow, operator-dependent, and inconsistent.</a:t>
            </a: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estimates bladder volume automatically, straight from the image.</a:t>
            </a: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separates the two views, finds the bladder in each, and traces its outline.</a:t>
            </a: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extracts the three diameters and computes volume using the ellipsoid formula.</a:t>
            </a: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scale is read automatically from the image's depth markings — no manual calibration.</a:t>
            </a: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faster, more consistent, operator-independent bladder volume estimation.</a:t>
            </a:r>
          </a:p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10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1D5D-2F82-4210-B67C-C3AADE7FED47}" type="datetime1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4</a:t>
            </a:fld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4647" y="1374470"/>
            <a:ext cx="10169009" cy="2054530"/>
          </a:xfrm>
          <a:prstGeom prst="rect">
            <a:avLst/>
          </a:prstGeom>
        </p:spPr>
      </p:pic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448056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10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58" y="4611603"/>
            <a:ext cx="4017612" cy="487722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193B-09C0-4C85-858C-650926A9B146}" type="datetime1">
              <a:rPr lang="en-IN" smtClean="0"/>
              <a:t>09-09-2026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74320" y="1371600"/>
          <a:ext cx="10058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7828">
                <a:tc>
                  <a:txBody>
                    <a:bodyPr/>
                    <a:lstStyle/>
                    <a:p>
                      <a:r>
                        <a:rPr sz="1100" b="1"/>
                        <a:t>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Pros / Cons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Findings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r>
                        <a:rPr sz="900"/>
                        <a:t>Fully Automated Segmentation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Automate bladder sac segmentation and DWT measurement.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2D U-Net CNN + Multi-dimensional Dynamic Programming (MDP).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Pros: Very fast (&lt;1 s).</a:t>
                      </a:r>
                    </a:p>
                    <a:p>
                      <a:r>
                        <a:rPr sz="900"/>
                        <a:t>Cons: Small training dataset (11 subjects).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Automated DWT error of 0.7 ± 0.2 mm compared to experts.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r>
                        <a:rPr sz="900"/>
                        <a:t>Revolutionizing Bladder 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Evaluate AI-based 2D bladder volume measurement accuracy.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AI module (LVivo) using the prolate ellipsoid formula.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Pros: Perfect reproducibility.</a:t>
                      </a:r>
                    </a:p>
                    <a:p>
                      <a:r>
                        <a:rPr sz="900"/>
                        <a:t>Cons: Single-center study.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Pearson correlation of r = 0.97 for volume measurement.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r>
                        <a:rPr sz="900"/>
                        <a:t>Bladder Weight Estimation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Develop automated UEBW measurement as an obstruction indicator.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Weight = (Surface Area × Thickness) × 0.957 gravity constant.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Pros: Eliminates spherical assumption.</a:t>
                      </a:r>
                    </a:p>
                    <a:p>
                      <a:r>
                        <a:rPr sz="900"/>
                        <a:t>Cons: Primarily designed for 3D data.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Healthy male UEBW averages 42 ± 6 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r>
                        <a:rPr sz="900"/>
                        <a:t>Noninvasive BOO 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Review all noninvasive methods for bladder outlet obstruction detection.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Review of PVR, PSA, IPP, BWT, and Near-Infrared Spectroscopy.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Pros: Covers multiple noninvasive diagnostic methods.</a:t>
                      </a:r>
                    </a:p>
                    <a:p>
                      <a:r>
                        <a:rPr sz="900"/>
                        <a:t>Cons: Variations in diagnostic accuracy.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Grade III IPP shows 92% specificity for diagnosing bladder outlet obstruction.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r>
                        <a:rPr sz="900"/>
                        <a:t>Non-invasive Ultrasound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 Systematically review BWT/DWT and UEBW for diagnosis.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PRISMA guidelines; PubMed search (1995–2016).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Pros: Comprehensive review.</a:t>
                      </a:r>
                    </a:p>
                    <a:p>
                      <a:r>
                        <a:rPr sz="900"/>
                        <a:t>Cons: Lack of international standardization.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DWT identified as the best predictor for obstruction (AUC = 0.93).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32">
                <a:tc>
                  <a:txBody>
                    <a:bodyPr/>
                    <a:lstStyle/>
                    <a:p>
                      <a:r>
                        <a:rPr sz="900"/>
                        <a:t>Sonographic Reference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Establish healthy population norms for BWT, DWT, and bladder weight.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Cross-sectional study of 384 healthy adults.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Pros: Non-invasive.</a:t>
                      </a:r>
                    </a:p>
                    <a:p>
                      <a:r>
                        <a:rPr sz="900"/>
                        <a:t>Cons: Manual measurement variability.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Mean healthy BWT = 2.8 ± 0.3 mm, DWT = 1.3 ± 0.1 mm.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lstStyle/>
          <a:p>
            <a:r>
              <a:rPr lang="en-IN" sz="26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methods rely on expert-acquired ultrasound images and vendor-specific calibration, limiting use across different ultrasound devices. </a:t>
            </a:r>
          </a:p>
          <a:p>
            <a:r>
              <a:rPr sz="2665"/>
              <a:t>Manual bladder measurements suffer from high inter-observer variability (0%–24.7%), reducing measurement consistency. </a:t>
            </a:r>
          </a:p>
          <a:p>
            <a:r>
              <a:rPr sz="2665"/>
              <a:t>Current automated systems are sensitive to noise, blur, artifacts, and low bladder filling volumes, affecting segmentation accuracy. </a:t>
            </a:r>
          </a:p>
          <a:p>
            <a:r>
              <a:rPr sz="2665"/>
              <a:t>Most studies use either traditional image processing or deep learning alone, with limited hybrid segmentation approaches. </a:t>
            </a:r>
          </a:p>
          <a:p>
            <a:r>
              <a:rPr sz="2665"/>
              <a:t>Existing frameworks focus on a single clinical parameter (e.g., bladder volume or wall thickness) rather than providing a comprehensive assessment. </a:t>
            </a:r>
          </a:p>
          <a:p>
            <a:r>
              <a:rPr sz="2665"/>
              <a:t>Many AI-based solutions act as black-box models with limited explainability, reducing clinician confidence and trust.</a:t>
            </a:r>
          </a:p>
          <a:p>
            <a:endParaRPr sz="2665"/>
          </a:p>
        </p:txBody>
      </p:sp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10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E986A-8308-4C4E-A0F3-DDD9B5B25762}" type="datetime1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6</a:t>
            </a:fld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9687"/>
            <a:ext cx="10515600" cy="4351338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hybrid bladder segmentation framework using Chan-Vese Active Contours and DenseNet-121. </a:t>
            </a:r>
          </a:p>
          <a:p>
            <a:r>
              <a:rPr sz="2000" dirty="0"/>
              <a:t>Implement automated spatial self-calibration for accurate ultrasound measurements. </a:t>
            </a:r>
          </a:p>
          <a:p>
            <a:r>
              <a:rPr sz="2000" dirty="0"/>
              <a:t>Estimate urinary bladder volume using automated segmentation and the prolate ellipsoid formula. </a:t>
            </a:r>
          </a:p>
          <a:p>
            <a:r>
              <a:rPr sz="2000" dirty="0"/>
              <a:t>Improve robustness against noise, blur, and ultrasound artifacts. </a:t>
            </a:r>
          </a:p>
          <a:p>
            <a:r>
              <a:rPr sz="2000" dirty="0"/>
              <a:t>Enable real-time, non-invasive bladder volume estimation. </a:t>
            </a:r>
          </a:p>
          <a:p>
            <a:r>
              <a:rPr sz="2000" dirty="0"/>
              <a:t>Reduce manual measurement variability through an automated clinical decision-support system.</a:t>
            </a:r>
          </a:p>
          <a:p>
            <a:endParaRPr sz="2000" dirty="0"/>
          </a:p>
        </p:txBody>
      </p:sp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10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09-09-2026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0248" y="4413148"/>
            <a:ext cx="1152340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Identified:  SDG 3 – Good Health and Well-being   |   TRL 4 – Technology Validated in Lab   |   Outcomes: Journal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3 The UN 17 Sustainable Development Goals (SDGs), implemented by all... | Download Scientific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588" y="4859424"/>
            <a:ext cx="1968651" cy="1578077"/>
          </a:xfrm>
          <a:prstGeom prst="rect">
            <a:avLst/>
          </a:prstGeom>
        </p:spPr>
      </p:pic>
      <p:pic>
        <p:nvPicPr>
          <p:cNvPr id="9" name="Picture 8" descr="What are Technology Readiness Levels (TRL)? - TW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6812" y="4714699"/>
            <a:ext cx="2447027" cy="22326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dual-panel transabdominal ultrasound image (ROI).</a:t>
            </a:r>
          </a:p>
          <a:p>
            <a:r>
              <a:rPr sz="2400"/>
              <a:t>Stage 1 - Panel split + spatial self-calibration by detecting depth-scale ruler ticks (pixel to mm).</a:t>
            </a:r>
          </a:p>
          <a:p>
            <a:r>
              <a:rPr sz="2400"/>
              <a:t>Stage 2 - Bladder localisation: DenseNet-121 (deep learning) and Chan-Vese active contour (classical) segment each panel.</a:t>
            </a:r>
          </a:p>
          <a:p>
            <a:r>
              <a:rPr sz="2400"/>
              <a:t>Stage 3 - Boundary refinement: ellipse fit bounded inside the detected region, refined by Chan-Vese.</a:t>
            </a:r>
          </a:p>
          <a:p>
            <a:r>
              <a:rPr sz="2400"/>
              <a:t>Stage 4 - Extract three diameters (d1 horizontal, d2 vertical, d3 diagonal) and compute Volume = 0.52 x d1 x d2 x d3.</a:t>
            </a:r>
          </a:p>
          <a:p>
            <a:r>
              <a:rPr sz="2400"/>
              <a:t>Output: bladder volume (ml) with per-stage visual verification.</a:t>
            </a:r>
          </a:p>
        </p:txBody>
      </p:sp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10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Framework/Architecture/Block Diagram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09-09-2026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 a cropped dual-panel ultrasound ROI image as input.</a:t>
            </a:r>
          </a:p>
          <a:p>
            <a:r>
              <a:rPr sz="2400"/>
              <a:t>Automatically split left/right panels and calibrate pixel-to-mm scale from on-image depth ticks.</a:t>
            </a:r>
          </a:p>
          <a:p>
            <a:r>
              <a:rPr sz="2400"/>
              <a:t>Segment the bladder region using classical (Chan-Vese) and deep-learning (DenseNet-121) methods.</a:t>
            </a:r>
          </a:p>
          <a:p>
            <a:r>
              <a:rPr sz="2400"/>
              <a:t>Extract the three orthogonal diameters and compute bladder volume via the ellipsoid formula.</a:t>
            </a:r>
          </a:p>
          <a:p>
            <a:r>
              <a:rPr sz="2400"/>
              <a:t>Visualise each processing stage for clinical verification.</a:t>
            </a:r>
          </a:p>
          <a:p>
            <a:r>
              <a:rPr sz="2400"/>
              <a:t>Operate without vendor-specific calibration or manual caliper placement.</a:t>
            </a:r>
          </a:p>
        </p:txBody>
      </p:sp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10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09-09-2026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25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Pre-processing &amp; ROI handling - load image, split dual panels, exclude background.</a:t>
            </a:r>
          </a:p>
          <a:p>
            <a:r>
              <a:rPr sz="2595"/>
              <a:t>2. Self-calibration - detect depth-scale ruler ticks to derive mm-per-pixel automatically.</a:t>
            </a:r>
          </a:p>
          <a:p>
            <a:r>
              <a:rPr sz="2595"/>
              <a:t>3. Classical segmentation - threshold region-growing + ellipse fit + Chan-Vese refinement.</a:t>
            </a:r>
          </a:p>
          <a:p>
            <a:r>
              <a:rPr sz="2595"/>
              <a:t>4. Deep-learning segmentation - DenseNet-121 U-Net trained on pipeline-generated masks.</a:t>
            </a:r>
          </a:p>
          <a:p>
            <a:r>
              <a:rPr sz="2595"/>
              <a:t>5. Measurement - horizontal, vertical and diagonal diameter extraction.</a:t>
            </a:r>
          </a:p>
          <a:p>
            <a:r>
              <a:rPr sz="2595"/>
              <a:t>6. Volume estimation &amp; comparison - ellipsoid volume; classical vs deep-learning vs reference.</a:t>
            </a:r>
          </a:p>
        </p:txBody>
      </p:sp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10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09-09-2026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Validated on transabdominal ultrasound scans with on-screen reference measurements.</a:t>
            </a:r>
          </a:p>
          <a:p>
            <a:r>
              <a:rPr sz="2400"/>
              <a:t>On images with reliable ground truth, classical pipeline volume error ~3-12%; deep-learning ~0.6-7%.</a:t>
            </a:r>
          </a:p>
          <a:p>
            <a:r>
              <a:rPr sz="2400"/>
              <a:t>Deep-learning segmentation runs ~15-130x faster per image than the classical Chan-Vese method.</a:t>
            </a:r>
          </a:p>
          <a:p>
            <a:r>
              <a:rPr sz="2400"/>
              <a:t>Self-calibration from depth-scale ticks matched reference scale to within ~0.2-0.4%.</a:t>
            </a:r>
          </a:p>
          <a:p>
            <a:r>
              <a:rPr sz="2400"/>
              <a:t>Note: current results are preliminary on a small dataset (~50 images) and to be extended with a larger held-out test set.</a:t>
            </a:r>
          </a:p>
        </p:txBody>
      </p:sp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10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and Results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09-09-2026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automated, non-invasive bladder volume estimation pipeline was developed from 2D transabdominal ultrasound.</a:t>
            </a:r>
          </a:p>
          <a:p>
            <a:r>
              <a:rPr sz="2400"/>
              <a:t>It removes manual caliper placement and self-calibrates without vendor-specific settings.</a:t>
            </a:r>
          </a:p>
          <a:p>
            <a:r>
              <a:rPr sz="2400"/>
              <a:t>A hybrid of classical (Chan-Vese) and deep-learning (DenseNet-121) segmentation was compared: the classical method is the accurate reference, while the deep-learning model replicates it at much higher speed.</a:t>
            </a:r>
          </a:p>
          <a:p>
            <a:r>
              <a:rPr sz="2400"/>
              <a:t>Future work: larger annotated dataset, hybrid learned-initialisation + classical-refinement, and extension to additional bladder biomarkers.</a:t>
            </a:r>
          </a:p>
        </p:txBody>
      </p:sp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10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09-09-2026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10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545592" y="1329333"/>
            <a:ext cx="10515600" cy="5027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Z. Akkus, B. H. Kim, R. Nayak, A. Gregory, A. Alizad, and M. Fatemi, "Fully automated segmentation of bladder sac and measurement of detrusor wall thickness from transabdominal ultrasound images," 2020.</a:t>
            </a:r>
          </a:p>
          <a:p>
            <a:r>
              <a:rPr sz="1800" dirty="0"/>
              <a:t>[2] E. A. Alpert, D. D. Gold, D. </a:t>
            </a:r>
            <a:r>
              <a:rPr sz="1800" dirty="0" err="1"/>
              <a:t>Kobliner</a:t>
            </a:r>
            <a:r>
              <a:rPr sz="1800" dirty="0"/>
              <a:t>-Friedman, M. Wagner, and Z. Dadon, "Revolutionizing bladder health: Artificial-intelligence-powered automatic measurement of bladder volume using two-dimensional ultrasound," Diagnostics, vol. 14, no. 16, Art. no. 1829, Aug. 2024. </a:t>
            </a:r>
          </a:p>
          <a:p>
            <a:r>
              <a:rPr sz="1800" dirty="0"/>
              <a:t>[3] V. Chalana, S. Dudycha, J.-T. Yuk, and G. McMorrow, "Automatic measurement of ultrasound-estimated bladder weight from three-dimensional ultrasound," Reviews in Urology, vol. 7, Suppl. 6, pp. S22–S28, 2005.</a:t>
            </a:r>
          </a:p>
          <a:p>
            <a:r>
              <a:rPr sz="1800" dirty="0"/>
              <a:t>[4] D. S. Elterman, B. Chughtai, R. Lee, A. E. </a:t>
            </a:r>
            <a:r>
              <a:rPr sz="1800" dirty="0" err="1"/>
              <a:t>Te</a:t>
            </a:r>
            <a:r>
              <a:rPr sz="1800" dirty="0"/>
              <a:t>, and S. A. Kaplan, "Noninvasive methods to evaluate bladder outlet obstruction in men," International Brazilian Journal of Urology, vol. 39, no. 1, pp. 4–19, Jan.–Feb. 2013.</a:t>
            </a:r>
          </a:p>
          <a:p>
            <a:r>
              <a:rPr sz="1800" dirty="0"/>
              <a:t> [5] F. </a:t>
            </a:r>
            <a:r>
              <a:rPr sz="1800" dirty="0" err="1"/>
              <a:t>Presicce</a:t>
            </a:r>
            <a:r>
              <a:rPr sz="1800" dirty="0"/>
              <a:t>, C. De Nunzio, M. </a:t>
            </a:r>
            <a:r>
              <a:rPr sz="1800" dirty="0" err="1"/>
              <a:t>Gacci</a:t>
            </a:r>
            <a:r>
              <a:rPr sz="1800" dirty="0"/>
              <a:t>, E. </a:t>
            </a:r>
            <a:r>
              <a:rPr sz="1800" dirty="0" err="1"/>
              <a:t>Finazzi</a:t>
            </a:r>
            <a:r>
              <a:rPr sz="1800" dirty="0"/>
              <a:t> </a:t>
            </a:r>
            <a:r>
              <a:rPr sz="1800" dirty="0" err="1"/>
              <a:t>Agrò</a:t>
            </a:r>
            <a:r>
              <a:rPr sz="1800" dirty="0"/>
              <a:t>, and A. </a:t>
            </a:r>
            <a:r>
              <a:rPr sz="1800" dirty="0" err="1"/>
              <a:t>Tubaro</a:t>
            </a:r>
            <a:r>
              <a:rPr sz="1800" dirty="0"/>
              <a:t>, "Non-invasive ultrasound measurements in male patients with lower urinary tract symptoms and benign prostatic obstruction: Implication for diagnosis and treatment," Minerva </a:t>
            </a:r>
            <a:r>
              <a:rPr sz="1800" dirty="0" err="1"/>
              <a:t>Urologica</a:t>
            </a:r>
            <a:r>
              <a:rPr sz="1800" dirty="0"/>
              <a:t> e </a:t>
            </a:r>
            <a:r>
              <a:rPr sz="1800" dirty="0" err="1"/>
              <a:t>Nefrologica</a:t>
            </a:r>
            <a:r>
              <a:rPr sz="1800" dirty="0"/>
              <a:t>, vol. 69, no. 3, pp. 220–233, Jun. 2017.</a:t>
            </a:r>
          </a:p>
          <a:p>
            <a:r>
              <a:rPr sz="1800" dirty="0"/>
              <a:t>[6] A. C. Ugwu et al., "Sonographic reference values for bladder wall thickness, detrusor wall thickness and bladder weight in apparently healthy adults in a Nigerian population," Journal of Ultrasonography, 2018._x000B_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7B6C-E68D-4047-8A1E-3C7BD2842AF7}" type="datetime1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13</a:t>
            </a:fld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1543</Words>
  <Application>Microsoft Office PowerPoint</Application>
  <PresentationFormat>Widescreen</PresentationFormat>
  <Paragraphs>151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B.Tech BCSE497J - Project-I  Deep Learning-Based Urinary Bladder Volume Quantification from Transabdominal Ultrasound with Intelligent Segmentation and Self-Calibration</vt:lpstr>
      <vt:lpstr>Approval Mail From Guide</vt:lpstr>
      <vt:lpstr>Aim</vt:lpstr>
      <vt:lpstr>Abstract</vt:lpstr>
      <vt:lpstr>Literature Review</vt:lpstr>
      <vt:lpstr>Research Gap</vt:lpstr>
      <vt:lpstr>Objectives</vt:lpstr>
      <vt:lpstr>Framework/Architecture/Block Diagram</vt:lpstr>
      <vt:lpstr>Functional Requirements</vt:lpstr>
      <vt:lpstr>Modules</vt:lpstr>
      <vt:lpstr>Experiments and Results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Parthasarathy G</dc:creator>
  <cp:lastModifiedBy>Aditya Atul Deshmukh</cp:lastModifiedBy>
  <cp:revision>9</cp:revision>
  <dcterms:created xsi:type="dcterms:W3CDTF">2026-07-14T06:00:00Z</dcterms:created>
  <dcterms:modified xsi:type="dcterms:W3CDTF">2026-09-09T08:06:32Z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17BB9B898EC1402D86DC639EB224FDE5_12</vt:lpwstr>
  </property>
</Properties>
</file>